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987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6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82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89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575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33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00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73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87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275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6059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922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185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236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13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49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D841D-54E6-4D62-B9E9-EDB129C5BD0A}" type="datetimeFigureOut">
              <a:rPr lang="en-IN" smtClean="0"/>
              <a:t>15/12/25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BFEFD7-D0D2-4284-B2B3-302715714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493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BA0F3-43F6-0ACF-4552-4CB21B9F3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90282"/>
            <a:ext cx="7766936" cy="1972237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4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1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 Book Recommendation with LLM Embeddings</a:t>
            </a:r>
            <a:br>
              <a:rPr lang="en-US" sz="31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Course: </a:t>
            </a:r>
            <a:r>
              <a:rPr lang="en-US" sz="2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Mining [CSCI-B 565]</a:t>
            </a:r>
            <a:br>
              <a:rPr lang="en-US" sz="2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Instructor: 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Dongruo Zhou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39895-A77F-1E40-462B-3249DDCC5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350" y="4023939"/>
            <a:ext cx="7766936" cy="1462461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Mukund Komati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Aazam Tadipatri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Viswambhara Chinmaye Palaparthi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692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5C33-C978-17E2-ABC0-3A1E16A53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992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Motivation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95AE1-D3E7-159C-67A0-7EBBFF2AA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910" y="1721318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Problem Matters?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book search relies heavily on keywords, exact matches, or user history. These methods often fail when: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issue natural-language queries that don’t match metadata.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descriptions are inconsistent, noisy, or short.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are fine-grained and poorly standardized.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 cannot help due to sparse user interactions.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Goal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9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Discovery based on Meaning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keywords.</a:t>
            </a: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4067207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8813-8652-1A3F-DBC5-62C1BDF15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55A08-42D7-BCF8-19BF-2E2D69FA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087" y="1676496"/>
            <a:ext cx="8466666" cy="36395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Aim to Solve: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address the problem of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Book Recommendation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input is a natural-language query and the output is a ranked list of books whose descriptions are semantically similar.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Messy and long-tailed category metadata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or extremely short descriptions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scalable text comparison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simple interpretable labels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solve these using LLM embeddings + zero-shot text classification.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75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40A76-6B5F-B2F2-83D4-F7E7316EF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1"/>
            <a:ext cx="8596668" cy="53788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BB130-14B4-9CB3-3E3C-879671781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087" y="1488613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Books Dataset (~10,000 records)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fields in the dataset: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ISBN, title, subtitle, authors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(raw, inconsistent)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Natural-language description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year, page count, ratings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Thumbnail image</a:t>
            </a:r>
          </a:p>
          <a:p>
            <a:pPr marL="0" indent="0">
              <a:buNone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75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DC512-E0AB-89F4-E95C-010750682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545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35374-A360-9FE1-E1B1-5850CBCAC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946" y="1488613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High-Quality Text Inputs: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performed: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entries missing description, publication year, page count, or ratings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Computed description word counts and manually inspected samples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a minimum word-count threshold to ensure meaningful text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Constructed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title_and_subtitle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 for display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tagged_description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prepending ISBN-13 for later identification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Cleaner Dataset with Informative Text for Semantic Embedding.</a:t>
            </a:r>
          </a:p>
          <a:p>
            <a:pPr marL="0" indent="0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515240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8EFB9-62C3-9E5D-8255-AA687E27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39906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Recommendation System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book descriptions using an LLM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6A87D-DD40-7FCA-AB90-7FA6607C8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5059"/>
            <a:ext cx="8596668" cy="33078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embed each cleaned description using an LLM embedding model (Huggingface embeddings).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properties: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Fixed-size dense vector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semantic meaning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similarity search using cosine distance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store these vectors using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vector database optimized for fast nearest-neighbor retrieval.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93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6F554-8A10-0381-1842-075FF929D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1041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Generate Recommendations: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query time: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natural-language query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embed the query using the same LLM embedding model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 performs similarity search over book vectors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retrieve top-k items and parse ISBN-13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joined back with metadata for display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us to retrieve books based on </a:t>
            </a: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</a:t>
            </a: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Overlap</a:t>
            </a:r>
            <a:r>
              <a:rPr lang="en-US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B7FBEAB-9B68-AE1C-0B85-5C03AD5B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39906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Recommendation System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Pipeline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65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94E3-0D84-70E8-2B62-7A4CBBE44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649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Zero-Shot Category Normalization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29768-0936-D5DC-1064-B874C88A3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3766"/>
            <a:ext cx="8596668" cy="44195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Fixing Noisy Category Metadata</a:t>
            </a:r>
          </a:p>
          <a:p>
            <a:pPr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raw category field contains hundreds of inconsistent labels.</a:t>
            </a:r>
          </a:p>
          <a:p>
            <a:pPr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approach: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simple category space: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fiction vs non-fiction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 reference subset with clear labels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zero-shot classification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(facebook/bart-large-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mnli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fiction vs non-fiction from the description text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labels across the catalog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gives Users an easy way to Interpret and Filter results.</a:t>
            </a:r>
          </a:p>
          <a:p>
            <a:pPr marL="0" indent="0">
              <a:buNone/>
            </a:pP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668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6740-C48B-D3C4-6505-0269442F8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8981B-96A7-E849-196F-28BE4C30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649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(Emotion) Analysis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5B75A-F7AC-94AF-A0AC-5D07A35BB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3766"/>
            <a:ext cx="8596668" cy="44195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Emotional Tone in Book Descriptions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Book descriptions often contain emotional cues, but raw text does not provide a structured sentiment label. 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Approach: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transformer-based emotion classifier 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DistilRoBERTa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Emotion Model).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one of several emotions (e.g., joy, sadness, fear, anger, surprise, neutral) directly from the description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predicted emotion as a new metadata field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filter or understand results based on emotional tone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Helps: Provides an additional interpretability layer by exposing the emotional character of each book.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88711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5478-CDE2-5FAE-0FDB-B35FB9AB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5106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Overview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B3DFD-7971-5932-2640-B5604BA87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5483"/>
            <a:ext cx="8596668" cy="30210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built a simple Gradio interface that: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natural-language queries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semantic retrieval through Chroma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with title, authors, snippet, thumbnail, and fiction/non-fiction label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clean and accessible experience for exploring recommendations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demonstrates the Practical Usability of the system.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116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F36D3-AD7F-D3B7-8711-DADC495F9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C0337-8E84-9B3F-C7F5-EE2657C40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5106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Overview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6D7FCF-2CF3-37AE-3DBD-749A26387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25574"/>
            <a:ext cx="8484595" cy="4267013"/>
          </a:xfrm>
        </p:spPr>
      </p:pic>
    </p:spTree>
    <p:extLst>
      <p:ext uri="{BB962C8B-B14F-4D97-AF65-F5344CB8AC3E}">
        <p14:creationId xmlns:p14="http://schemas.microsoft.com/office/powerpoint/2010/main" val="3997986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F98226-8A81-D764-4181-905A90F51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67120"/>
              </p:ext>
            </p:extLst>
          </p:nvPr>
        </p:nvGraphicFramePr>
        <p:xfrm>
          <a:off x="457200" y="2904565"/>
          <a:ext cx="9018492" cy="2563903"/>
        </p:xfrm>
        <a:graphic>
          <a:graphicData uri="http://schemas.openxmlformats.org/drawingml/2006/table">
            <a:tbl>
              <a:tblPr/>
              <a:tblGrid>
                <a:gridCol w="1196148">
                  <a:extLst>
                    <a:ext uri="{9D8B030D-6E8A-4147-A177-3AD203B41FA5}">
                      <a16:colId xmlns:a16="http://schemas.microsoft.com/office/drawing/2014/main" val="4269232651"/>
                    </a:ext>
                  </a:extLst>
                </a:gridCol>
                <a:gridCol w="1303724">
                  <a:extLst>
                    <a:ext uri="{9D8B030D-6E8A-4147-A177-3AD203B41FA5}">
                      <a16:colId xmlns:a16="http://schemas.microsoft.com/office/drawing/2014/main" val="2218685787"/>
                    </a:ext>
                  </a:extLst>
                </a:gridCol>
                <a:gridCol w="1303724">
                  <a:extLst>
                    <a:ext uri="{9D8B030D-6E8A-4147-A177-3AD203B41FA5}">
                      <a16:colId xmlns:a16="http://schemas.microsoft.com/office/drawing/2014/main" val="890142449"/>
                    </a:ext>
                  </a:extLst>
                </a:gridCol>
                <a:gridCol w="1303724">
                  <a:extLst>
                    <a:ext uri="{9D8B030D-6E8A-4147-A177-3AD203B41FA5}">
                      <a16:colId xmlns:a16="http://schemas.microsoft.com/office/drawing/2014/main" val="1162621521"/>
                    </a:ext>
                  </a:extLst>
                </a:gridCol>
                <a:gridCol w="1303724">
                  <a:extLst>
                    <a:ext uri="{9D8B030D-6E8A-4147-A177-3AD203B41FA5}">
                      <a16:colId xmlns:a16="http://schemas.microsoft.com/office/drawing/2014/main" val="1456288338"/>
                    </a:ext>
                  </a:extLst>
                </a:gridCol>
                <a:gridCol w="1303724">
                  <a:extLst>
                    <a:ext uri="{9D8B030D-6E8A-4147-A177-3AD203B41FA5}">
                      <a16:colId xmlns:a16="http://schemas.microsoft.com/office/drawing/2014/main" val="1118981684"/>
                    </a:ext>
                  </a:extLst>
                </a:gridCol>
                <a:gridCol w="1303724">
                  <a:extLst>
                    <a:ext uri="{9D8B030D-6E8A-4147-A177-3AD203B41FA5}">
                      <a16:colId xmlns:a16="http://schemas.microsoft.com/office/drawing/2014/main" val="2566323061"/>
                    </a:ext>
                  </a:extLst>
                </a:gridCol>
              </a:tblGrid>
              <a:tr h="384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Type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 Model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Model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Improvement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021542"/>
                  </a:ext>
                </a:extLst>
              </a:tr>
              <a:tr h="732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Semantic Retrieval (Embeddings)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Embeddings (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Huggingface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 + 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Top-10 Retrieval Precision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0.42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+36%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375626"/>
                  </a:ext>
                </a:extLst>
              </a:tr>
              <a:tr h="732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Category Classification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Zero-Shot (BART-MNLI)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 (Bag-of-Words)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+16%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796738"/>
                  </a:ext>
                </a:extLst>
              </a:tr>
              <a:tr h="713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Sentiment / Tone Analysis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DistilRoBERTa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Sentiment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(VADER)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+18%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8095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A1CEC75-FBEF-F8DF-E75A-406A30F7F7E2}"/>
              </a:ext>
            </a:extLst>
          </p:cNvPr>
          <p:cNvSpPr txBox="1"/>
          <p:nvPr/>
        </p:nvSpPr>
        <p:spPr>
          <a:xfrm>
            <a:off x="502025" y="658017"/>
            <a:ext cx="61004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Insights</a:t>
            </a:r>
            <a:endParaRPr lang="en-IN" sz="2800" b="1" dirty="0">
              <a:solidFill>
                <a:schemeClr val="accent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98FB5-E7A4-2521-3EBE-CB21DE5BAB5C}"/>
              </a:ext>
            </a:extLst>
          </p:cNvPr>
          <p:cNvSpPr txBox="1"/>
          <p:nvPr/>
        </p:nvSpPr>
        <p:spPr>
          <a:xfrm>
            <a:off x="502025" y="1150239"/>
            <a:ext cx="77096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Times New Roman" panose="02020603050405020304" pitchFamily="18" charset="0"/>
              <a:buChar char="‣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embeddings significantly outperform keyword search for descriptive queries</a:t>
            </a:r>
          </a:p>
          <a:p>
            <a:pPr marL="342900" indent="-342900">
              <a:buClr>
                <a:schemeClr val="accent1"/>
              </a:buClr>
              <a:buFont typeface="Times New Roman" panose="02020603050405020304" pitchFamily="18" charset="0"/>
              <a:buChar char="‣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Zero-shot labeling effectively simplifies category metadata</a:t>
            </a:r>
          </a:p>
          <a:p>
            <a:pPr marL="342900" indent="-342900">
              <a:buClr>
                <a:schemeClr val="accent1"/>
              </a:buClr>
              <a:buFont typeface="Times New Roman" panose="02020603050405020304" pitchFamily="18" charset="0"/>
              <a:buChar char="‣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UI showcases the system’s potential for real-world book discovery</a:t>
            </a:r>
          </a:p>
        </p:txBody>
      </p:sp>
    </p:spTree>
    <p:extLst>
      <p:ext uri="{BB962C8B-B14F-4D97-AF65-F5344CB8AC3E}">
        <p14:creationId xmlns:p14="http://schemas.microsoft.com/office/powerpoint/2010/main" val="151492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4F88-A8EE-69E4-2B9D-81C73C54A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096899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Time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944A1-AE7F-307B-07B6-62C0463390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P.S: We Enjoyed your class. Thanks for Imparting Knowledge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0253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923</TotalTime>
  <Words>772</Words>
  <Application>Microsoft Macintosh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Trebuchet MS</vt:lpstr>
      <vt:lpstr>Wingdings 3</vt:lpstr>
      <vt:lpstr>Facet</vt:lpstr>
      <vt:lpstr>  Semantic Book Recommendation with LLM Embeddings Course: Data Mining [CSCI-B 565] Instructor: Dongruo Zhou</vt:lpstr>
      <vt:lpstr>Problem Motivation</vt:lpstr>
      <vt:lpstr>Problem Statement</vt:lpstr>
      <vt:lpstr>Dataset Overview</vt:lpstr>
      <vt:lpstr>Data Cleaning &amp; Preparation</vt:lpstr>
      <vt:lpstr>Semantic Recommendation System Embedding book descriptions using an LLM</vt:lpstr>
      <vt:lpstr>Semantic Recommendation System Retrieval Pipeline</vt:lpstr>
      <vt:lpstr>Zero-Shot Category Normalization </vt:lpstr>
      <vt:lpstr>Sentiment (Emotion) Analysis</vt:lpstr>
      <vt:lpstr>UI Overview </vt:lpstr>
      <vt:lpstr>UI Overview </vt:lpstr>
      <vt:lpstr>PowerPoint Presentation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viswambhara chinmaye</dc:creator>
  <cp:lastModifiedBy>Komati, Mukund</cp:lastModifiedBy>
  <cp:revision>4</cp:revision>
  <dcterms:created xsi:type="dcterms:W3CDTF">2025-12-02T02:54:18Z</dcterms:created>
  <dcterms:modified xsi:type="dcterms:W3CDTF">2025-12-16T03:36:25Z</dcterms:modified>
</cp:coreProperties>
</file>